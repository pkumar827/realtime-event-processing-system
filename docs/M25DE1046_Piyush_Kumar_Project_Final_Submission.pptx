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 the white circle emblem with the official IIT Jodhpur logo (Insert &gt; Picture) from iitj.ac.in/main/en/institute-logo.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Surges are sudden and extreme; static infrastructure fails at the peak, and dropped booking events have real cost (double-booking, lost revenue).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objectives with measurable success criteria: build the pipeline, auto-scale on load, and prove the benefit with benchmarks.</a:t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Honest before/after. Proposal claimed 40% but core was 0%; this semester delivered the working, benchmarked system.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Memory math shows why the proposed stack couldn't run. Each deviation is justified; Kafka is kept.</a:t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Pipeline plus four core mechanics: session_id keying, partitions as ceiling, consumer-group rebalancing, and lag-driven scaling.</a:t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Booking funnel with realistic drop-off; a real sample event showing session_id (partition key) and timestamp (latency).</a:t>
            </a:r>
            <a:endParaRPr/>
          </a:p>
        </p:txBody>
      </p:sp>
      <p:sp>
        <p:nvSpPr>
          <p:cNvPr id="191" name="Google Shape;19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 on KRaft (Raft metadata quorum, no Zookeeper), partitions as the parallelism ceiling, and the memory-conscious broker config.</a:t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Core: lag = sum(log-end - committed) read via one persistent connection; simple threshold logic with cooldown; grounded in KEDA-style lag scaling.</a:t>
            </a:r>
            <a:endParaRPr/>
          </a:p>
        </p:txBody>
      </p:sp>
      <p:sp>
        <p:nvSpPr>
          <p:cNvPr id="273" name="Google Shape;2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Rules plus reasoning: lag-based like KEDA, cooldown stops flapping (with the mechanism), and max tied to partitions.</a:t>
            </a:r>
            <a:endParaRPr/>
          </a:p>
        </p:txBody>
      </p:sp>
      <p:sp>
        <p:nvSpPr>
          <p:cNvPr id="314" name="Google Shape;3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Full rig and stack versions; baseline-vs-scaler method with clean offset resets for a fair comparison.</a:t>
            </a:r>
            <a:endParaRPr/>
          </a:p>
        </p:txBody>
      </p:sp>
      <p:sp>
        <p:nvSpPr>
          <p:cNvPr id="348" name="Google Shape;34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clean scale-up / scale-down cycles driven entirely by measured lag; peak lag ~4,800 recovers to near zero each cycle.</a:t>
            </a:r>
            <a:endParaRPr/>
          </a:p>
        </p:txBody>
      </p:sp>
      <p:sp>
        <p:nvSpPr>
          <p:cNvPr id="389" name="Google Shape;38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hero comparison: without scaling lag climbs to ~87,000 unbounded; with scaling it stays near zero. Throughput sustains ~3x the single-worker ceiling.</a:t>
            </a:r>
            <a:endParaRPr/>
          </a:p>
        </p:txBody>
      </p:sp>
      <p:sp>
        <p:nvSpPr>
          <p:cNvPr id="415" name="Google Shape;41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genuine challenges and their fixes (great viva material), then the honest scalability argument.</a:t>
            </a:r>
            <a:endParaRPr/>
          </a:p>
        </p:txBody>
      </p:sp>
      <p:sp>
        <p:nvSpPr>
          <p:cNvPr id="437" name="Google Shape;43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Quantified proof banner, delivered vs future, repo link, thanks.</a:t>
            </a:r>
            <a:endParaRPr/>
          </a:p>
        </p:txBody>
      </p:sp>
      <p:sp>
        <p:nvSpPr>
          <p:cNvPr id="469" name="Google Shape;46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4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607040" y="-731520"/>
            <a:ext cx="2377440" cy="2377440"/>
          </a:xfrm>
          <a:prstGeom prst="ellipse">
            <a:avLst/>
          </a:prstGeom>
          <a:solidFill>
            <a:srgbClr val="1C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1430000" y="5394960"/>
            <a:ext cx="2011680" cy="2011680"/>
          </a:xfrm>
          <a:prstGeom prst="ellipse">
            <a:avLst/>
          </a:prstGeom>
          <a:solidFill>
            <a:srgbClr val="1C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641848" y="457200"/>
            <a:ext cx="914400" cy="9144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Cambria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Real-Time Scalable Event Processing System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288036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7A398"/>
                </a:solidFill>
                <a:latin typeface="Cambria"/>
                <a:ea typeface="Cambria"/>
                <a:cs typeface="Cambria"/>
                <a:sym typeface="Cambria"/>
              </a:rPr>
              <a:t>with Auto-Scaling Simulation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374904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M.Tech Major Project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097280" y="4663440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br>
              <a:rPr b="0" i="0" lang="en-US" sz="11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Piyush Kumar</a:t>
            </a:r>
            <a:r>
              <a:rPr b="0" i="0" lang="en-US" sz="13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   (M25DE1046)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00800" y="466344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br>
              <a:rPr b="0" i="0" lang="en-US" sz="11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Subhash Bhagat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School of Artificial Intelligence &amp; Data Science   ·   Indian Institute of Technology Jodhpur   ·   29 July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4350" y="304800"/>
            <a:ext cx="1632831" cy="17983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The Problem: Traffic That Explodes in Seconds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58368" y="1691640"/>
            <a:ext cx="57607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When a blockbuster opens on a ticketing platform like BookMyShow, traffic doesn't rise gently — it detonates. A calm stream of a few hundred users becomes a flood of tens of thousands within seconds, all racing for the same limited seats.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Infrastructure sized for the average moment cannot survive that peak. Requests pile into queues, processing falls behind, and the backlog grows faster than the system can drain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The consequences are concrete: a dropped or delayed booking event can mean a double-sold seat, a failed payment, or lost revenue — precisely at the platform's most valuable moment.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903720" y="1737360"/>
            <a:ext cx="4617720" cy="2788920"/>
          </a:xfrm>
          <a:prstGeom prst="roundRect">
            <a:avLst>
              <a:gd fmla="val 2623" name="adj"/>
            </a:avLst>
          </a:prstGeom>
          <a:solidFill>
            <a:srgbClr val="13243B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040880" y="2057400"/>
            <a:ext cx="434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5000"/>
              <a:buFont typeface="Cambria"/>
              <a:buNone/>
            </a:pPr>
            <a:r>
              <a:rPr b="1" i="0" lang="en-US" sz="5000" u="none" cap="none" strike="noStrike">
                <a:solidFill>
                  <a:srgbClr val="17A398"/>
                </a:solidFill>
                <a:latin typeface="Cambria"/>
                <a:ea typeface="Cambria"/>
                <a:cs typeface="Cambria"/>
                <a:sym typeface="Cambria"/>
              </a:rPr>
              <a:t>10×–100×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040880" y="2971800"/>
            <a:ext cx="4343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surge in load within seconds of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a popular release going 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040880" y="3657600"/>
            <a:ext cx="4343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Static capacity vs. a spike it was never sized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967728" y="4736592"/>
            <a:ext cx="182880" cy="18288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7269480" y="465429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Requests queue up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967728" y="5285232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269480" y="520293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Latency spikes, events delayed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6967728" y="5833872"/>
            <a:ext cx="182880" cy="18288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269480" y="5751576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Dropped events → double-booking, lost sales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Project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58368" y="1783080"/>
            <a:ext cx="3429000" cy="429768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950976" y="2084832"/>
            <a:ext cx="777240" cy="777240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950976" y="208483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32688" y="303580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Real-time streaming pipeline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32688" y="3822192"/>
            <a:ext cx="2926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Ingest a high-volume stream of booking events through Apache Kafka with low, controlled latency.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32688" y="5212080"/>
            <a:ext cx="2880360" cy="685800"/>
          </a:xfrm>
          <a:prstGeom prst="roundRect">
            <a:avLst>
              <a:gd fmla="val 6667" name="adj"/>
            </a:avLst>
          </a:prstGeom>
          <a:solidFill>
            <a:srgbClr val="F6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042416" y="5230368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Success: events flow producer → Kafka → workers end-to-end under load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379976" y="1783080"/>
            <a:ext cx="3429000" cy="429768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672584" y="2084832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672584" y="208483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654296" y="303580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Load-reactive auto-scaling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654296" y="3822192"/>
            <a:ext cx="2926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Automatically add and remove processing workers as demand rises and falls — no manual intervention.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654296" y="5212080"/>
            <a:ext cx="2880360" cy="685800"/>
          </a:xfrm>
          <a:prstGeom prst="roundRect">
            <a:avLst>
              <a:gd fmla="val 6667" name="adj"/>
            </a:avLst>
          </a:prstGeom>
          <a:solidFill>
            <a:srgbClr val="F6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4764024" y="5230368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Success: workers scale up on surge, back down when it clears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101584" y="1783080"/>
            <a:ext cx="3429000" cy="4297680"/>
          </a:xfrm>
          <a:prstGeom prst="roundRect">
            <a:avLst>
              <a:gd fmla="val 2133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8394192" y="2084832"/>
            <a:ext cx="777240" cy="77724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394192" y="2084832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375904" y="3035808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Measured, honest proof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375904" y="3822192"/>
            <a:ext cx="29260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Benchmark the system under realistic surges and quantify the benefit with data.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375904" y="5212080"/>
            <a:ext cx="2880360" cy="685800"/>
          </a:xfrm>
          <a:prstGeom prst="roundRect">
            <a:avLst>
              <a:gd fmla="val 6667" name="adj"/>
            </a:avLst>
          </a:prstGeom>
          <a:solidFill>
            <a:srgbClr val="F6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485632" y="5230368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E4572E"/>
                </a:solidFill>
                <a:latin typeface="Calibri"/>
                <a:ea typeface="Calibri"/>
                <a:cs typeface="Calibri"/>
                <a:sym typeface="Calibri"/>
              </a:rPr>
              <a:t>Success: with-vs-without comparison shows lag controlled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From Proposal to Working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58368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Where the project stood last semester, and what exists now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58368" y="1737360"/>
            <a:ext cx="5257800" cy="3977640"/>
          </a:xfrm>
          <a:prstGeom prst="roundRect">
            <a:avLst>
              <a:gd fmla="val 1839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914400" y="193852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4572E"/>
                </a:solidFill>
                <a:latin typeface="Calibri"/>
                <a:ea typeface="Calibri"/>
                <a:cs typeface="Calibri"/>
                <a:sym typeface="Calibri"/>
              </a:rPr>
              <a:t>LAST SEMESTER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914400" y="2249424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The Proposal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960120" y="2862072"/>
            <a:ext cx="137160" cy="13716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1216152" y="2706624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Design &amp; architecture approved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960120" y="3429000"/>
            <a:ext cx="137160" cy="13716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1216152" y="3273552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Tech stack chosen (Kafka, Python, Docker)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960120" y="3995928"/>
            <a:ext cx="137160" cy="13716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1216152" y="3840480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Repository skeleton (~42 lines): a trivial producer and consumer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960120" y="4562856"/>
            <a:ext cx="137160" cy="13716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1216152" y="4407408"/>
            <a:ext cx="4526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Auto-scaler, metrics, benchmarks — not yet built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14400" y="513892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E4572E"/>
                </a:solidFill>
                <a:latin typeface="Calibri"/>
                <a:ea typeface="Calibri"/>
                <a:cs typeface="Calibri"/>
                <a:sym typeface="Calibri"/>
              </a:rPr>
              <a:t>Proposal claimed ~40% complete — but the core (scaler + benchmarks) was 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053328" y="3566160"/>
            <a:ext cx="64008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6812280" y="1737360"/>
            <a:ext cx="4709160" cy="3977640"/>
          </a:xfrm>
          <a:prstGeom prst="roundRect">
            <a:avLst>
              <a:gd fmla="val 1839" name="adj"/>
            </a:avLst>
          </a:prstGeom>
          <a:solidFill>
            <a:srgbClr val="13243B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068312" y="193852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THIS SEMESTER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7068312" y="2249424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Running, Benchmarked System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7114032" y="2862072"/>
            <a:ext cx="137160" cy="137160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7370064" y="2706624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End-to-end pipeline running natively (no Docker)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114032" y="3429000"/>
            <a:ext cx="137160" cy="137160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7370064" y="3273552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Realistic booking-event simulator, 3 load profiles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7114032" y="3995928"/>
            <a:ext cx="137160" cy="137160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7370064" y="38404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Lag-based auto-scaler: workers scale 1→3→1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114032" y="4562856"/>
            <a:ext cx="137160" cy="137160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7370064" y="4407408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Metrics logging + with-vs-without benchmark graphs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7068312" y="5138928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The interesting work — the scaler and its evaluation — was built this semester.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Adapting the Design to Real Hardware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58368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Every change is a documented engineering decision, driven by a 4 GB laptop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58368" y="1627632"/>
            <a:ext cx="10881360" cy="749808"/>
          </a:xfrm>
          <a:prstGeom prst="roundRect">
            <a:avLst>
              <a:gd fmla="val 9756" name="adj"/>
            </a:avLst>
          </a:prstGeom>
          <a:solidFill>
            <a:srgbClr val="13243B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914400" y="1627632"/>
            <a:ext cx="104241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The memory math: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Windows ~2.5 GB  +  Docker/WSL2 VM ~2 GB  +  Kafka &amp; Zookeeper JVMs ~1.5 GB   =   ~6 GB demanded on a 4 GB machine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58368" y="2542032"/>
            <a:ext cx="108813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841248" y="2807208"/>
            <a:ext cx="182880" cy="182880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1143000" y="2542032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Docker + Compose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794760" y="2807208"/>
            <a:ext cx="25603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CE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206240" y="2542032"/>
            <a:ext cx="3063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Native install in WSL2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406640" y="2542032"/>
            <a:ext cx="4023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Docker's VM overhead alone (~1.5–2 GB) left no room on 4 GB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58368" y="3364992"/>
            <a:ext cx="108813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841248" y="3630168"/>
            <a:ext cx="182880" cy="1828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1143000" y="3364992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Zookeeper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794760" y="3630168"/>
            <a:ext cx="25603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CE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206240" y="3364992"/>
            <a:ext cx="3063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Kafka in KRaft mode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406640" y="3364992"/>
            <a:ext cx="4023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Removes an entire JVM; Kafka manages its own metadata quorum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58368" y="4187952"/>
            <a:ext cx="108813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841248" y="4453128"/>
            <a:ext cx="182880" cy="18288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143000" y="4187952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Prometheus + Grafana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3794760" y="4453128"/>
            <a:ext cx="25603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CE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206240" y="4187952"/>
            <a:ext cx="3063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CSV logging + matplotlib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7406640" y="4187952"/>
            <a:ext cx="4023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 monitoring stack can't coexist with the broker on 4 GB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58368" y="5010912"/>
            <a:ext cx="1088136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41248" y="5276088"/>
            <a:ext cx="182880" cy="18288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143000" y="5010912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Apache Kafka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3794760" y="5276088"/>
            <a:ext cx="256032" cy="18288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CE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206240" y="5010912"/>
            <a:ext cx="3063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Apache Kafka (kept)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7406640" y="5010912"/>
            <a:ext cx="4023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The core streaming technology — unchanged, non-negotiable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43B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System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58368" y="1874520"/>
            <a:ext cx="246888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254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58368" y="1874520"/>
            <a:ext cx="2468880" cy="82296"/>
          </a:xfrm>
          <a:prstGeom prst="roundRect">
            <a:avLst>
              <a:gd fmla="val 44444" name="adj"/>
            </a:avLst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58368" y="203911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43B"/>
                </a:solidFill>
                <a:latin typeface="Cambria"/>
                <a:ea typeface="Cambria"/>
                <a:cs typeface="Cambria"/>
                <a:sym typeface="Cambria"/>
              </a:rPr>
              <a:t>Producer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49808" y="2441448"/>
            <a:ext cx="2286000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Booking-event simulator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keys events by session_id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657600" y="1874520"/>
            <a:ext cx="246888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657600" y="1874520"/>
            <a:ext cx="2468880" cy="82296"/>
          </a:xfrm>
          <a:prstGeom prst="roundRect">
            <a:avLst>
              <a:gd fmla="val 44444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3657600" y="203911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43B"/>
                </a:solidFill>
                <a:latin typeface="Cambria"/>
                <a:ea typeface="Cambria"/>
                <a:cs typeface="Cambria"/>
                <a:sym typeface="Cambria"/>
              </a:rPr>
              <a:t>Kafka (KRaft)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749040" y="2441448"/>
            <a:ext cx="2286000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booking-events topic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3 partitions, no Zookeeper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656832" y="1874520"/>
            <a:ext cx="246888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254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656832" y="1874520"/>
            <a:ext cx="2468880" cy="82296"/>
          </a:xfrm>
          <a:prstGeom prst="roundRect">
            <a:avLst>
              <a:gd fmla="val 44444" name="adj"/>
            </a:avLst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6656832" y="2039112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43B"/>
                </a:solidFill>
                <a:latin typeface="Cambria"/>
                <a:ea typeface="Cambria"/>
                <a:cs typeface="Cambria"/>
                <a:sym typeface="Cambria"/>
              </a:rPr>
              <a:t>Consumer Group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6748272" y="2441448"/>
            <a:ext cx="2286000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Worker pool consumes 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parallel; auto-rebalances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9656064" y="1874520"/>
            <a:ext cx="1874520" cy="150876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254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9656064" y="1874520"/>
            <a:ext cx="1874520" cy="82296"/>
          </a:xfrm>
          <a:prstGeom prst="roundRect">
            <a:avLst>
              <a:gd fmla="val 44444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9656064" y="2039112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3243B"/>
                </a:solidFill>
                <a:latin typeface="Cambria"/>
                <a:ea typeface="Cambria"/>
                <a:cs typeface="Cambria"/>
                <a:sym typeface="Cambria"/>
              </a:rPr>
              <a:t>Auto-Scaler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9747504" y="2441448"/>
            <a:ext cx="1691640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watches lag,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spawns / kills workers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145536" y="2482596"/>
            <a:ext cx="50292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144768" y="2482596"/>
            <a:ext cx="50292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9144000" y="2482596"/>
            <a:ext cx="502920" cy="2926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7589520" y="3611880"/>
            <a:ext cx="3017520" cy="27432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656832" y="3913632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auto-scaler resizes the worker pool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658368" y="4434840"/>
            <a:ext cx="2606040" cy="1783080"/>
          </a:xfrm>
          <a:prstGeom prst="roundRect">
            <a:avLst>
              <a:gd fmla="val 4103" name="adj"/>
            </a:avLst>
          </a:prstGeom>
          <a:solidFill>
            <a:srgbClr val="1C3A5E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886968" y="4663440"/>
            <a:ext cx="137160" cy="1371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1115568" y="455371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Events keyed by session_id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86968" y="5102352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A session's events hash to one partition, preserving per-session order.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447288" y="4434840"/>
            <a:ext cx="2606040" cy="1783080"/>
          </a:xfrm>
          <a:prstGeom prst="roundRect">
            <a:avLst>
              <a:gd fmla="val 4103" name="adj"/>
            </a:avLst>
          </a:prstGeom>
          <a:solidFill>
            <a:srgbClr val="1C3A5E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675888" y="4663440"/>
            <a:ext cx="137160" cy="137160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904488" y="455371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Partitions = parallelism ceiling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675888" y="5102352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Kafka gives each partition to one consumer, so 3 partitions ⇒ at most 3 workers.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236208" y="4434840"/>
            <a:ext cx="2606040" cy="1783080"/>
          </a:xfrm>
          <a:prstGeom prst="roundRect">
            <a:avLst>
              <a:gd fmla="val 4103" name="adj"/>
            </a:avLst>
          </a:prstGeom>
          <a:solidFill>
            <a:srgbClr val="1C3A5E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464808" y="4663440"/>
            <a:ext cx="137160" cy="13716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693408" y="455371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Group auto-rebalances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464808" y="5102352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Add or remove a worker and Kafka reassigns partitions across the group automatically.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9025128" y="4434840"/>
            <a:ext cx="2606040" cy="1783080"/>
          </a:xfrm>
          <a:prstGeom prst="roundRect">
            <a:avLst>
              <a:gd fmla="val 4103" name="adj"/>
            </a:avLst>
          </a:prstGeom>
          <a:solidFill>
            <a:srgbClr val="1C3A5E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9253728" y="4663440"/>
            <a:ext cx="137160" cy="13716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9482328" y="455371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Lag drives scaling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9253728" y="5102352"/>
            <a:ext cx="21945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The scaler reacts to produced-minus-processed backlog, not CPU.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Realistic Event Simulation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58368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 booking funnel with real drop-off — so the benchmark measures something meaningful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822960" y="1828800"/>
            <a:ext cx="4480560" cy="438912"/>
          </a:xfrm>
          <a:prstGeom prst="roundRect">
            <a:avLst>
              <a:gd fmla="val 10417" name="adj"/>
            </a:avLst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932688" y="1828800"/>
            <a:ext cx="4261104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5394960" y="1828800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822960" y="2395728"/>
            <a:ext cx="3723345" cy="438912"/>
          </a:xfrm>
          <a:prstGeom prst="roundRect">
            <a:avLst>
              <a:gd fmla="val 10417" name="adj"/>
            </a:avLst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932688" y="2395728"/>
            <a:ext cx="3503889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637745" y="2395728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74%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822960" y="2962656"/>
            <a:ext cx="2704018" cy="438912"/>
          </a:xfrm>
          <a:prstGeom prst="roundRect">
            <a:avLst>
              <a:gd fmla="val 10417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932688" y="2962656"/>
            <a:ext cx="248456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 seat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618418" y="2962656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39%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822960" y="3529584"/>
            <a:ext cx="2208916" cy="438912"/>
          </a:xfrm>
          <a:prstGeom prst="roundRect">
            <a:avLst>
              <a:gd fmla="val 10417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932688" y="3529584"/>
            <a:ext cx="19894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add to cart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3123316" y="3529584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22%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822960" y="4096512"/>
            <a:ext cx="1946803" cy="438912"/>
          </a:xfrm>
          <a:prstGeom prst="roundRect">
            <a:avLst>
              <a:gd fmla="val 10417" name="adj"/>
            </a:avLst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932688" y="4096512"/>
            <a:ext cx="1727347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861203" y="4096512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13%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22960" y="4663440"/>
            <a:ext cx="1830309" cy="438912"/>
          </a:xfrm>
          <a:prstGeom prst="roundRect">
            <a:avLst>
              <a:gd fmla="val 10417" name="adj"/>
            </a:avLst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932688" y="4663440"/>
            <a:ext cx="1610853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744709" y="4663440"/>
            <a:ext cx="7315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22960" y="534924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Sessions abandon at each step — a realistic ~9% search-to-booking conversion, not uniform noise.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263640" y="1783080"/>
            <a:ext cx="5257800" cy="4343400"/>
          </a:xfrm>
          <a:prstGeom prst="roundRect">
            <a:avLst>
              <a:gd fmla="val 1684" name="adj"/>
            </a:avLst>
          </a:prstGeom>
          <a:solidFill>
            <a:srgbClr val="0E1B2E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6492240" y="193852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a booking_confirmed event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492240" y="2286000"/>
            <a:ext cx="4892040" cy="3703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"event_id": "a3f9c1e8...",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"event_type": "booking_confirmed",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"session_id": "sess-7b2e91c4",   ← partition key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"user_id": 284519,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"timestamp": 1785304910564,      ← for latency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"device": { "platform": "android" },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"event_details": {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"city": "Mumbai", "movie_id": "MOV1042",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"seat_category": "premium", "seat_count": 3,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"amount": 960 },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"payment": { "method": "upi",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         "status": "success" 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Streaming Layer: Apache Kafka in KRaft Mode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58368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One broker, no Zookeeper — parallelism is bounded by partition 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58368" y="1737360"/>
            <a:ext cx="548640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914400" y="19385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booking-events  topic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914400" y="2395728"/>
            <a:ext cx="4937760" cy="749808"/>
          </a:xfrm>
          <a:prstGeom prst="roundRect">
            <a:avLst>
              <a:gd fmla="val 7317" name="adj"/>
            </a:avLst>
          </a:prstGeom>
          <a:solidFill>
            <a:srgbClr val="F6F8FB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1097280" y="2395728"/>
            <a:ext cx="1463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Partition 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2651760" y="2651760"/>
            <a:ext cx="347472" cy="23774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3154680" y="2651760"/>
            <a:ext cx="347472" cy="23774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3657600" y="2651760"/>
            <a:ext cx="347472" cy="23774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160520" y="2651760"/>
            <a:ext cx="347472" cy="23774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4663440" y="2651760"/>
            <a:ext cx="347472" cy="23774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5166360" y="2651760"/>
            <a:ext cx="347472" cy="23774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5943600" y="2395728"/>
            <a:ext cx="914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→ worker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914400" y="3328416"/>
            <a:ext cx="4937760" cy="749808"/>
          </a:xfrm>
          <a:prstGeom prst="roundRect">
            <a:avLst>
              <a:gd fmla="val 7317" name="adj"/>
            </a:avLst>
          </a:prstGeom>
          <a:solidFill>
            <a:srgbClr val="F6F8FB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1097280" y="3328416"/>
            <a:ext cx="1463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Partition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651760" y="3584448"/>
            <a:ext cx="347472" cy="23774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3154680" y="3584448"/>
            <a:ext cx="347472" cy="23774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3657600" y="3584448"/>
            <a:ext cx="347472" cy="23774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4160520" y="3584448"/>
            <a:ext cx="347472" cy="23774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4663440" y="3584448"/>
            <a:ext cx="347472" cy="23774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5166360" y="3584448"/>
            <a:ext cx="347472" cy="237744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5943600" y="3328416"/>
            <a:ext cx="914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→ worker 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914400" y="4261104"/>
            <a:ext cx="4937760" cy="749808"/>
          </a:xfrm>
          <a:prstGeom prst="roundRect">
            <a:avLst>
              <a:gd fmla="val 7317" name="adj"/>
            </a:avLst>
          </a:prstGeom>
          <a:solidFill>
            <a:srgbClr val="F6F8FB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1097280" y="4261104"/>
            <a:ext cx="14630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Partition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2651760" y="4517136"/>
            <a:ext cx="347472" cy="23774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3154680" y="4517136"/>
            <a:ext cx="347472" cy="23774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3657600" y="4517136"/>
            <a:ext cx="347472" cy="23774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4160520" y="4517136"/>
            <a:ext cx="347472" cy="23774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4663440" y="4517136"/>
            <a:ext cx="347472" cy="23774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5166360" y="4517136"/>
            <a:ext cx="347472" cy="23774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5943600" y="4261104"/>
            <a:ext cx="9144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→ worker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914400" y="525780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Ordering is guaranteed within a partition — enough for per-session correctness.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400800" y="1737360"/>
            <a:ext cx="512064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656832" y="1975104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931152" y="1856232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KRaft — no Zookeeper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675120" y="2249424"/>
            <a:ext cx="4617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The broker runs its own Raft-based metadata quorum, so it is both broker and controller. One fewer JVM to feed on 4 GB.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400800" y="3163824"/>
            <a:ext cx="512064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6656832" y="3401568"/>
            <a:ext cx="164592" cy="164592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6931152" y="328269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Partitions cap parallelism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6675120" y="3675888"/>
            <a:ext cx="4617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Kafka assigns each partition to at most one consumer in a group — so 3 partitions is a hard ceiling of 3 concurrent workers.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400800" y="4590288"/>
            <a:ext cx="512064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6656832" y="4828032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6931152" y="470916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512 MB heap, acks=1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6675120" y="5102352"/>
            <a:ext cx="46177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The broker heap is pinned and acks kept light so it coexists with Python and stays within the memory budget.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43B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Auto-Scaler — Core Contribution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58368" y="129844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A control loop that keeps the pipeline healthy by resizing the worker pool in response to real Kafka lag — the same signal production systems like KEDA scale 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658368" y="1965960"/>
            <a:ext cx="23774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25400">
            <a:solidFill>
              <a:srgbClr val="17A39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1572768" y="2139696"/>
            <a:ext cx="502920" cy="502920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1572768" y="21396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58368" y="270662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3243B"/>
                </a:solidFill>
                <a:latin typeface="Cambria"/>
                <a:ea typeface="Cambria"/>
                <a:cs typeface="Cambria"/>
                <a:sym typeface="Cambria"/>
              </a:rPr>
              <a:t>MEASURE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749808" y="29992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read group lag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3054096" y="2514600"/>
            <a:ext cx="34747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3419856" y="1965960"/>
            <a:ext cx="23774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334256" y="2139696"/>
            <a:ext cx="502920" cy="5029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4334256" y="21396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419856" y="270662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3243B"/>
                </a:solidFill>
                <a:latin typeface="Cambria"/>
                <a:ea typeface="Cambria"/>
                <a:cs typeface="Cambria"/>
                <a:sym typeface="Cambria"/>
              </a:rPr>
              <a:t>DECIDE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3511296" y="29992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compare to thresholds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5815584" y="2514600"/>
            <a:ext cx="34747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6181344" y="1965960"/>
            <a:ext cx="23774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254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7095744" y="2139696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7095744" y="21396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6181344" y="270662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3243B"/>
                </a:solidFill>
                <a:latin typeface="Cambria"/>
                <a:ea typeface="Cambria"/>
                <a:cs typeface="Cambria"/>
                <a:sym typeface="Cambria"/>
              </a:rPr>
              <a:t>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6272784" y="29992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spawn / kill worker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8577072" y="2514600"/>
            <a:ext cx="347472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1"/>
          <p:cNvSpPr/>
          <p:nvPr/>
        </p:nvSpPr>
        <p:spPr>
          <a:xfrm>
            <a:off x="8942832" y="1965960"/>
            <a:ext cx="23774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25400">
            <a:solidFill>
              <a:srgbClr val="E457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9857232" y="2139696"/>
            <a:ext cx="502920" cy="50292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9857232" y="21396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8942832" y="2706624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43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3243B"/>
                </a:solidFill>
                <a:latin typeface="Cambria"/>
                <a:ea typeface="Cambria"/>
                <a:cs typeface="Cambria"/>
                <a:sym typeface="Cambria"/>
              </a:rPr>
              <a:t>COOL 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9034272" y="2999232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wait, avoid flapping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658368" y="3456432"/>
            <a:ext cx="9601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↺ loop repeats every 3 seconds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58368" y="3977640"/>
            <a:ext cx="5257800" cy="2240280"/>
          </a:xfrm>
          <a:prstGeom prst="roundRect">
            <a:avLst>
              <a:gd fmla="val 3265" name="adj"/>
            </a:avLst>
          </a:prstGeom>
          <a:solidFill>
            <a:srgbClr val="0E1B2E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1"/>
          <p:cNvSpPr/>
          <p:nvPr/>
        </p:nvSpPr>
        <p:spPr>
          <a:xfrm>
            <a:off x="914400" y="41148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Lag, read from Kafka itself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914400" y="448056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onsolas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lag  =  Σ ( log_end_offset − committed_offset 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914400" y="493776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summed over all partitions = events produced but not yet processed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914400" y="5532120"/>
            <a:ext cx="4892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One persistent connection reads it every poll — no per-poll JVM overhead.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6263640" y="3977640"/>
            <a:ext cx="5257800" cy="2240280"/>
          </a:xfrm>
          <a:prstGeom prst="roundRect">
            <a:avLst>
              <a:gd fmla="val 3265" name="adj"/>
            </a:avLst>
          </a:prstGeom>
          <a:solidFill>
            <a:srgbClr val="0E1B2E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1"/>
          <p:cNvSpPr/>
          <p:nvPr/>
        </p:nvSpPr>
        <p:spPr>
          <a:xfrm>
            <a:off x="6492240" y="41148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Decision logic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492240" y="4443984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every 3s: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lag = read_lag()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if lag &gt; 300 and workers &lt; 3: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spawn_worker()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elif lag &lt; 50 and workers &gt; 1: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    kill_worker()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6E2F0"/>
              </a:buClr>
              <a:buSzPts val="1150"/>
              <a:buFont typeface="Consolas"/>
              <a:buNone/>
            </a:pPr>
            <a:r>
              <a:rPr b="0" i="0" lang="en-US" sz="1150" u="none" cap="none" strike="noStrike">
                <a:solidFill>
                  <a:srgbClr val="D6E2F0"/>
                </a:solidFill>
                <a:latin typeface="Consolas"/>
                <a:ea typeface="Consolas"/>
                <a:cs typeface="Consolas"/>
                <a:sym typeface="Consolas"/>
              </a:rPr>
              <a:t>  sleep(cooldown)   # 10s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Scaling Decision Logic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58368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Simple, tunable rules with the reasoning behind each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658368" y="1737360"/>
            <a:ext cx="548640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914400" y="19202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The rules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914400" y="2450592"/>
            <a:ext cx="1874520" cy="603504"/>
          </a:xfrm>
          <a:prstGeom prst="roundRect">
            <a:avLst>
              <a:gd fmla="val 9091" name="adj"/>
            </a:avLst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914400" y="2450592"/>
            <a:ext cx="18745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lag &gt; 300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2971800" y="2450592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add a worker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914400" y="3291840"/>
            <a:ext cx="1874520" cy="603504"/>
          </a:xfrm>
          <a:prstGeom prst="roundRect">
            <a:avLst>
              <a:gd fmla="val 9091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914400" y="3291840"/>
            <a:ext cx="18745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lag &lt; 50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2971800" y="3291840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remove a worker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914400" y="4133088"/>
            <a:ext cx="1874520" cy="603504"/>
          </a:xfrm>
          <a:prstGeom prst="roundRect">
            <a:avLst>
              <a:gd fmla="val 9091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914400" y="4133088"/>
            <a:ext cx="18745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cooldown 10 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2971800" y="4133088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wait after each 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914400" y="4974336"/>
            <a:ext cx="1874520" cy="603504"/>
          </a:xfrm>
          <a:prstGeom prst="roundRect">
            <a:avLst>
              <a:gd fmla="val 9091" name="adj"/>
            </a:avLst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914400" y="4974336"/>
            <a:ext cx="18745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min 1 / max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2971800" y="4974336"/>
            <a:ext cx="3108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bounds = partition 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6400800" y="1737360"/>
            <a:ext cx="5120640" cy="4206240"/>
          </a:xfrm>
          <a:prstGeom prst="roundRect">
            <a:avLst>
              <a:gd fmla="val 1739" name="adj"/>
            </a:avLst>
          </a:prstGeom>
          <a:solidFill>
            <a:srgbClr val="13243B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6675120" y="193852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7A398"/>
                </a:solidFill>
                <a:latin typeface="Cambria"/>
                <a:ea typeface="Cambria"/>
                <a:cs typeface="Cambria"/>
                <a:sym typeface="Cambria"/>
              </a:rPr>
              <a:t>Why these choices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6693408" y="2478024"/>
            <a:ext cx="146304" cy="146304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2"/>
          <p:cNvSpPr/>
          <p:nvPr/>
        </p:nvSpPr>
        <p:spPr>
          <a:xfrm>
            <a:off x="6949440" y="2340864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Lag, not CPU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6949440" y="2688336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Consumer-group lag directly measures 'are we keeping up'. Production autoscalers (e.g. KEDA on Kubernetes) scale Kafka consumers on exactly this signal.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6693408" y="3648456"/>
            <a:ext cx="146304" cy="146304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6949440" y="351129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Cooldown prevents flapping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6949440" y="3858768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A new worker takes seconds to join and rebalance. Without a 10 s pause, the scaler would spawn 3 workers in 3 seconds, overshoot, then thrash up and down.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6693408" y="4818888"/>
            <a:ext cx="146304" cy="146304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6949440" y="4681728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 = partition count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6949440" y="5029200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A 4th worker can never receive a partition, so it would sit idle. The ceiling honours Kafka's own limit.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3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Experimental Setup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658368" y="1691640"/>
            <a:ext cx="25146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658368" y="1847088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4572E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E4572E"/>
                </a:solidFill>
                <a:latin typeface="Cambria"/>
                <a:ea typeface="Cambria"/>
                <a:cs typeface="Cambria"/>
                <a:sym typeface="Cambria"/>
              </a:rPr>
              <a:t>4 GB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658368" y="25146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total RAM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3447288" y="1691640"/>
            <a:ext cx="25146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3447288" y="1847088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2 / 4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3447288" y="25146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cores / threads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6236208" y="1691640"/>
            <a:ext cx="25146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6236208" y="1847088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512 MB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6236208" y="25146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Kafka heap cap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9025128" y="1691640"/>
            <a:ext cx="25146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9025128" y="1847088"/>
            <a:ext cx="2514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2900"/>
              <a:buFont typeface="Cambria"/>
              <a:buNone/>
            </a:pPr>
            <a:r>
              <a:rPr b="1" i="0" lang="en-US" sz="2900" u="none" cap="none" strike="noStrike">
                <a:solidFill>
                  <a:srgbClr val="17A39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9025128" y="251460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partitions &amp; max workers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658368" y="3291840"/>
            <a:ext cx="5394960" cy="265176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3"/>
          <p:cNvSpPr/>
          <p:nvPr/>
        </p:nvSpPr>
        <p:spPr>
          <a:xfrm>
            <a:off x="914400" y="345643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Stack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914400" y="3858768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2286000" y="3858768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Lenovo IdeaPad 330 · Intel i3-8130U · Windows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3"/>
          <p:cNvSpPr/>
          <p:nvPr/>
        </p:nvSpPr>
        <p:spPr>
          <a:xfrm>
            <a:off x="914400" y="4261104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Runtime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3"/>
          <p:cNvSpPr/>
          <p:nvPr/>
        </p:nvSpPr>
        <p:spPr>
          <a:xfrm>
            <a:off x="2286000" y="4261104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WSL2 / Ubuntu · Java 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3"/>
          <p:cNvSpPr/>
          <p:nvPr/>
        </p:nvSpPr>
        <p:spPr>
          <a:xfrm>
            <a:off x="914400" y="46634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Broker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3"/>
          <p:cNvSpPr/>
          <p:nvPr/>
        </p:nvSpPr>
        <p:spPr>
          <a:xfrm>
            <a:off x="2286000" y="46634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Apache Kafka 4.3.1 (KRaft, no Zookeeper)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3"/>
          <p:cNvSpPr/>
          <p:nvPr/>
        </p:nvSpPr>
        <p:spPr>
          <a:xfrm>
            <a:off x="914400" y="5065776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3"/>
          <p:cNvSpPr/>
          <p:nvPr/>
        </p:nvSpPr>
        <p:spPr>
          <a:xfrm>
            <a:off x="2286000" y="5065776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Python 3 · kafka-python-ng 2.2.3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914400" y="546811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3"/>
          <p:cNvSpPr/>
          <p:nvPr/>
        </p:nvSpPr>
        <p:spPr>
          <a:xfrm>
            <a:off x="2286000" y="5468112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pandas · matplotlib (CSV → graphs)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3"/>
          <p:cNvSpPr/>
          <p:nvPr/>
        </p:nvSpPr>
        <p:spPr>
          <a:xfrm>
            <a:off x="6309360" y="3291840"/>
            <a:ext cx="5212080" cy="2651760"/>
          </a:xfrm>
          <a:prstGeom prst="roundRect">
            <a:avLst>
              <a:gd fmla="val 2759" name="adj"/>
            </a:avLst>
          </a:prstGeom>
          <a:solidFill>
            <a:srgbClr val="13243B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6583680" y="345643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7A398"/>
                </a:solidFill>
                <a:latin typeface="Cambria"/>
                <a:ea typeface="Cambria"/>
                <a:cs typeface="Cambria"/>
                <a:sym typeface="Cambria"/>
              </a:rPr>
              <a:t>Method — two passes, same load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6675120" y="3977640"/>
            <a:ext cx="155448" cy="155448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6949440" y="38404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6949440" y="4151376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1 fixed worker, scaling OFF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6675120" y="4636008"/>
            <a:ext cx="155448" cy="155448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3"/>
          <p:cNvSpPr/>
          <p:nvPr/>
        </p:nvSpPr>
        <p:spPr>
          <a:xfrm>
            <a:off x="6949440" y="4498848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Auto-scaling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6949440" y="4809744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scaler free to add / remove workers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6583680" y="53492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Repeating surge profile (3 cycles). Consumer-group offsets reset between passes so both start at zero lag — a fair, aligned comparison.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4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Results I — Scaling Behaviour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658368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Lag rises, workers scale 1→3, backlog drains, workers scale back to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ppt/assets/graph_scaling.png" id="395" name="Google Shape;3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691640"/>
            <a:ext cx="7680960" cy="397764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4"/>
          <p:cNvSpPr/>
          <p:nvPr/>
        </p:nvSpPr>
        <p:spPr>
          <a:xfrm>
            <a:off x="8595360" y="1783080"/>
            <a:ext cx="2926080" cy="87782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8833104" y="1965960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4"/>
          <p:cNvSpPr/>
          <p:nvPr/>
        </p:nvSpPr>
        <p:spPr>
          <a:xfrm>
            <a:off x="9070848" y="1856232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Peak lag ~4,800 events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9070848" y="2203704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at the start of each surge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8595360" y="2807208"/>
            <a:ext cx="2926080" cy="87782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4"/>
          <p:cNvSpPr/>
          <p:nvPr/>
        </p:nvSpPr>
        <p:spPr>
          <a:xfrm>
            <a:off x="8833104" y="2990088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"/>
          <p:cNvSpPr/>
          <p:nvPr/>
        </p:nvSpPr>
        <p:spPr>
          <a:xfrm>
            <a:off x="9070848" y="28803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Scaler steps 1→2→3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9070848" y="322783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within one cooldown of the spike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8595360" y="3831336"/>
            <a:ext cx="2926080" cy="87782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"/>
          <p:cNvSpPr/>
          <p:nvPr/>
        </p:nvSpPr>
        <p:spPr>
          <a:xfrm>
            <a:off x="8833104" y="4014216"/>
            <a:ext cx="146304" cy="146304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4"/>
          <p:cNvSpPr/>
          <p:nvPr/>
        </p:nvSpPr>
        <p:spPr>
          <a:xfrm>
            <a:off x="9070848" y="39044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Backlog drains, lag → 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9070848" y="425196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3 workers exceed the inflow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8595360" y="4855464"/>
            <a:ext cx="2926080" cy="877824"/>
          </a:xfrm>
          <a:prstGeom prst="roundRect">
            <a:avLst>
              <a:gd fmla="val 8333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4"/>
          <p:cNvSpPr/>
          <p:nvPr/>
        </p:nvSpPr>
        <p:spPr>
          <a:xfrm>
            <a:off x="8833104" y="5038344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4"/>
          <p:cNvSpPr/>
          <p:nvPr/>
        </p:nvSpPr>
        <p:spPr>
          <a:xfrm>
            <a:off x="9070848" y="4928616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Scales back to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>
            <a:off x="9070848" y="527608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when the surge clears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5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Results II — With vs Without Auto-Scaling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658368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Same load, same machine — the auto-scaler is the only difference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tmp/ppt/assets/graph_lagcompare.png" id="421" name="Google Shape;4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645920"/>
            <a:ext cx="5349240" cy="2651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tmp/ppt/assets/graph_throughput.png" id="422" name="Google Shape;4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63640" y="1645920"/>
            <a:ext cx="534924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5"/>
          <p:cNvSpPr/>
          <p:nvPr/>
        </p:nvSpPr>
        <p:spPr>
          <a:xfrm>
            <a:off x="658368" y="4315968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Consumer lag over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6263640" y="4315968"/>
            <a:ext cx="5349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Processing throughput over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658368" y="4754880"/>
            <a:ext cx="3429000" cy="1234440"/>
          </a:xfrm>
          <a:prstGeom prst="roundRect">
            <a:avLst>
              <a:gd fmla="val 5926" name="adj"/>
            </a:avLst>
          </a:prstGeom>
          <a:solidFill>
            <a:srgbClr val="13243B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841248" y="4901184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7A398"/>
                </a:solidFill>
                <a:latin typeface="Cambria"/>
                <a:ea typeface="Cambria"/>
                <a:cs typeface="Cambria"/>
                <a:sym typeface="Cambria"/>
              </a:rPr>
              <a:t>~87,000 → ~0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5"/>
          <p:cNvSpPr/>
          <p:nvPr/>
        </p:nvSpPr>
        <p:spPr>
          <a:xfrm>
            <a:off x="859536" y="546811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peak lag: without scaling vs with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4379976" y="4754880"/>
            <a:ext cx="3429000" cy="1234440"/>
          </a:xfrm>
          <a:prstGeom prst="roundRect">
            <a:avLst>
              <a:gd fmla="val 5926" name="adj"/>
            </a:avLst>
          </a:prstGeom>
          <a:solidFill>
            <a:srgbClr val="13243B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4562856" y="4901184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7A398"/>
                </a:solidFill>
                <a:latin typeface="Cambria"/>
                <a:ea typeface="Cambria"/>
                <a:cs typeface="Cambria"/>
                <a:sym typeface="Cambria"/>
              </a:rPr>
              <a:t>~330 → ~1000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4581144" y="546811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events/sec: 1 worker vs scaled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8101584" y="4754880"/>
            <a:ext cx="3429000" cy="1234440"/>
          </a:xfrm>
          <a:prstGeom prst="roundRect">
            <a:avLst>
              <a:gd fmla="val 5926" name="adj"/>
            </a:avLst>
          </a:prstGeom>
          <a:solidFill>
            <a:srgbClr val="13243B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8284464" y="4901184"/>
            <a:ext cx="3108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≈ 3×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8302752" y="5468112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sustained throughput at peak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8FB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822960" y="502920"/>
            <a:ext cx="146304" cy="146304"/>
          </a:xfrm>
          <a:prstGeom prst="rect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6"/>
          <p:cNvSpPr/>
          <p:nvPr/>
        </p:nvSpPr>
        <p:spPr>
          <a:xfrm>
            <a:off x="640080" y="694944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Challenges, Constraints &amp; Insights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658368" y="1243584"/>
            <a:ext cx="11155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What the build surfaced — and why the design still scales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658368" y="1737360"/>
            <a:ext cx="5394960" cy="4206240"/>
          </a:xfrm>
          <a:prstGeom prst="roundRect">
            <a:avLst>
              <a:gd fmla="val 1739" name="adj"/>
            </a:avLst>
          </a:prstGeom>
          <a:solidFill>
            <a:srgbClr val="FFFFFF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6"/>
          <p:cNvSpPr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A2332"/>
                </a:solidFill>
                <a:latin typeface="Cambria"/>
                <a:ea typeface="Cambria"/>
                <a:cs typeface="Cambria"/>
                <a:sym typeface="Cambria"/>
              </a:rPr>
              <a:t>Problems faced &amp; solved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960120" y="2423160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6"/>
          <p:cNvSpPr/>
          <p:nvPr/>
        </p:nvSpPr>
        <p:spPr>
          <a:xfrm>
            <a:off x="1216152" y="22860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Per-partition backlog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1216152" y="2633472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 partition that fell behind stayed behind even after adding workers — real distributed-systems behaviour, not a bug.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960120" y="3593592"/>
            <a:ext cx="146304" cy="146304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1216152" y="345643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JVM-per-poll cost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1216152" y="3803904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Polling lag via Kafka's CLI would launch a JVM every 3 s; solved with one persistent in-process connection.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960120" y="4764024"/>
            <a:ext cx="146304" cy="1463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1216152" y="462686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Ephemeral /tmp on WSL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1216152" y="4974336"/>
            <a:ext cx="46634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Kafka's log dir on /tmp was wiped on restart; re-format restores it (fix: move to a persistent path).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6309360" y="1737360"/>
            <a:ext cx="5212080" cy="4206240"/>
          </a:xfrm>
          <a:prstGeom prst="roundRect">
            <a:avLst>
              <a:gd fmla="val 1739" name="adj"/>
            </a:avLst>
          </a:prstGeom>
          <a:solidFill>
            <a:srgbClr val="13243B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7A398"/>
                </a:solidFill>
                <a:latin typeface="Cambria"/>
                <a:ea typeface="Cambria"/>
                <a:cs typeface="Cambria"/>
                <a:sym typeface="Cambria"/>
              </a:rPr>
              <a:t>Why it still scales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6583680" y="23774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Every scaling lever is a configuration value: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6583680" y="2816352"/>
            <a:ext cx="2194560" cy="402336"/>
          </a:xfrm>
          <a:prstGeom prst="roundRect">
            <a:avLst>
              <a:gd fmla="val 11364" name="adj"/>
            </a:avLst>
          </a:prstGeom>
          <a:solidFill>
            <a:srgbClr val="1C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"/>
          <p:cNvSpPr/>
          <p:nvPr/>
        </p:nvSpPr>
        <p:spPr>
          <a:xfrm>
            <a:off x="6583680" y="2816352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peak load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8961120" y="2816352"/>
            <a:ext cx="2194560" cy="402336"/>
          </a:xfrm>
          <a:prstGeom prst="roundRect">
            <a:avLst>
              <a:gd fmla="val 11364" name="adj"/>
            </a:avLst>
          </a:prstGeom>
          <a:solidFill>
            <a:srgbClr val="1C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6"/>
          <p:cNvSpPr/>
          <p:nvPr/>
        </p:nvSpPr>
        <p:spPr>
          <a:xfrm>
            <a:off x="8961120" y="2816352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work per event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6583680" y="3328416"/>
            <a:ext cx="2194560" cy="402336"/>
          </a:xfrm>
          <a:prstGeom prst="roundRect">
            <a:avLst>
              <a:gd fmla="val 11364" name="adj"/>
            </a:avLst>
          </a:prstGeom>
          <a:solidFill>
            <a:srgbClr val="1C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6"/>
          <p:cNvSpPr/>
          <p:nvPr/>
        </p:nvSpPr>
        <p:spPr>
          <a:xfrm>
            <a:off x="6583680" y="3328416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partition &amp; worker ceiling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8961120" y="3328416"/>
            <a:ext cx="2194560" cy="402336"/>
          </a:xfrm>
          <a:prstGeom prst="roundRect">
            <a:avLst>
              <a:gd fmla="val 11364" name="adj"/>
            </a:avLst>
          </a:prstGeom>
          <a:solidFill>
            <a:srgbClr val="1C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8961120" y="3328416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scale thresholds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6583680" y="40233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ADC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EC"/>
                </a:solidFill>
                <a:latin typeface="Calibri"/>
                <a:ea typeface="Calibri"/>
                <a:cs typeface="Calibri"/>
                <a:sym typeface="Calibri"/>
              </a:rPr>
              <a:t>Handling more load is a config change, not a redesign — up to this laptop's ceiling. Beyond it, the same design scales horizontally by adding partitions and machines, exactly as Kafka does in production.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43B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7"/>
          <p:cNvSpPr/>
          <p:nvPr/>
        </p:nvSpPr>
        <p:spPr>
          <a:xfrm>
            <a:off x="-822960" y="5120640"/>
            <a:ext cx="2377440" cy="2377440"/>
          </a:xfrm>
          <a:prstGeom prst="ellipse">
            <a:avLst/>
          </a:prstGeom>
          <a:solidFill>
            <a:srgbClr val="1C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7"/>
          <p:cNvSpPr/>
          <p:nvPr/>
        </p:nvSpPr>
        <p:spPr>
          <a:xfrm>
            <a:off x="11247120" y="-731520"/>
            <a:ext cx="2194560" cy="2194560"/>
          </a:xfrm>
          <a:prstGeom prst="ellipse">
            <a:avLst/>
          </a:prstGeom>
          <a:solidFill>
            <a:srgbClr val="1C3A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7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 &amp; Future Scope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731520" y="1463040"/>
            <a:ext cx="10744200" cy="822960"/>
          </a:xfrm>
          <a:prstGeom prst="roundRect">
            <a:avLst>
              <a:gd fmla="val 8889" name="adj"/>
            </a:avLst>
          </a:prstGeom>
          <a:solidFill>
            <a:srgbClr val="1C3A5E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7"/>
          <p:cNvSpPr/>
          <p:nvPr/>
        </p:nvSpPr>
        <p:spPr>
          <a:xfrm>
            <a:off x="1005840" y="1463040"/>
            <a:ext cx="10195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Proven: 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 identical load, auto-scaling held lag near zero versus ~87,000 events, and sustained ~3× the single-worker throughput.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822960" y="2514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A39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Delivered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914400" y="2990088"/>
            <a:ext cx="155448" cy="155448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7"/>
          <p:cNvSpPr/>
          <p:nvPr/>
        </p:nvSpPr>
        <p:spPr>
          <a:xfrm>
            <a:off x="1216152" y="285292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working Kafka pipeline on a 4 GB laptop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914400" y="3593592"/>
            <a:ext cx="155448" cy="155448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7"/>
          <p:cNvSpPr/>
          <p:nvPr/>
        </p:nvSpPr>
        <p:spPr>
          <a:xfrm>
            <a:off x="1216152" y="3456432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lag-based auto-scaler (the core contribution)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7"/>
          <p:cNvSpPr/>
          <p:nvPr/>
        </p:nvSpPr>
        <p:spPr>
          <a:xfrm>
            <a:off x="914400" y="4197096"/>
            <a:ext cx="155448" cy="155448"/>
          </a:xfrm>
          <a:prstGeom prst="ellipse">
            <a:avLst/>
          </a:prstGeom>
          <a:solidFill>
            <a:srgbClr val="17A39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7"/>
          <p:cNvSpPr/>
          <p:nvPr/>
        </p:nvSpPr>
        <p:spPr>
          <a:xfrm>
            <a:off x="1216152" y="4059936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Measured, aligned with-vs-without benchmarks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7"/>
          <p:cNvSpPr/>
          <p:nvPr/>
        </p:nvSpPr>
        <p:spPr>
          <a:xfrm>
            <a:off x="6400800" y="2514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7"/>
          <p:cNvSpPr/>
          <p:nvPr/>
        </p:nvSpPr>
        <p:spPr>
          <a:xfrm>
            <a:off x="6492240" y="2990088"/>
            <a:ext cx="155448" cy="1554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7"/>
          <p:cNvSpPr/>
          <p:nvPr/>
        </p:nvSpPr>
        <p:spPr>
          <a:xfrm>
            <a:off x="6793992" y="2852928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Containerize &amp; deploy on AWS / GCP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6492240" y="3593592"/>
            <a:ext cx="155448" cy="1554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7"/>
          <p:cNvSpPr/>
          <p:nvPr/>
        </p:nvSpPr>
        <p:spPr>
          <a:xfrm>
            <a:off x="6793992" y="3456432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Predictive (ML-based) scaling ahead of surges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6492240" y="4197096"/>
            <a:ext cx="155448" cy="1554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7"/>
          <p:cNvSpPr/>
          <p:nvPr/>
        </p:nvSpPr>
        <p:spPr>
          <a:xfrm>
            <a:off x="6793992" y="4059936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Multi-tenant event categories &amp; queues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822960" y="4892040"/>
            <a:ext cx="10515600" cy="777240"/>
          </a:xfrm>
          <a:prstGeom prst="roundRect">
            <a:avLst>
              <a:gd fmla="val 9412" name="adj"/>
            </a:avLst>
          </a:prstGeom>
          <a:solidFill>
            <a:srgbClr val="1C3A5E"/>
          </a:solidFill>
          <a:ln cap="flat" cmpd="sng" w="12700">
            <a:solidFill>
              <a:srgbClr val="DCE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9AA7B4">
                <a:alpha val="2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7"/>
          <p:cNvSpPr/>
          <p:nvPr/>
        </p:nvSpPr>
        <p:spPr>
          <a:xfrm>
            <a:off x="1097280" y="4892040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3C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3C8"/>
                </a:solidFill>
                <a:latin typeface="Calibri"/>
                <a:ea typeface="Calibri"/>
                <a:cs typeface="Calibri"/>
                <a:sym typeface="Calibri"/>
              </a:rPr>
              <a:t>Code:  </a:t>
            </a:r>
            <a:r>
              <a:rPr b="1" i="0" lang="en-US" sz="1400" u="none" cap="none" strike="noStrike">
                <a:solidFill>
                  <a:srgbClr val="17A398"/>
                </a:solidFill>
                <a:latin typeface="Calibri"/>
                <a:ea typeface="Calibri"/>
                <a:cs typeface="Calibri"/>
                <a:sym typeface="Calibri"/>
              </a:rPr>
              <a:t>github.com/pkumar827/realtime-event-processing-system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7"/>
          <p:cNvSpPr/>
          <p:nvPr/>
        </p:nvSpPr>
        <p:spPr>
          <a:xfrm>
            <a:off x="731520" y="589788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